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6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5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7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5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9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2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0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58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53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60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39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23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1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DDC08F6-775B-4061-8A43-5042E85456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5EFA994-C23B-41C5-B9C9-384C42ED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0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DCF8-1814-EFF2-935D-30BC279C7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614" y="1219201"/>
            <a:ext cx="10170771" cy="861420"/>
          </a:xfrm>
        </p:spPr>
        <p:txBody>
          <a:bodyPr/>
          <a:lstStyle/>
          <a:p>
            <a:r>
              <a:rPr lang="en-US" sz="3600" dirty="0"/>
              <a:t>Automobile Insurance Complaints Rankings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966B6-001D-921C-FF04-5B1454655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403148"/>
            <a:ext cx="8825658" cy="861420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Team ID: PTID-CDA-NOV-25-826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Project ID: cdacl-001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6F6C2-DC03-C31F-AA74-9DC745995853}"/>
              </a:ext>
            </a:extLst>
          </p:cNvPr>
          <p:cNvSpPr txBox="1"/>
          <p:nvPr/>
        </p:nvSpPr>
        <p:spPr>
          <a:xfrm>
            <a:off x="1427747" y="4007583"/>
            <a:ext cx="4203032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Presented By: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bg1"/>
                </a:solidFill>
              </a:rPr>
              <a:t>	Kaneshk P 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bg1"/>
                </a:solidFill>
              </a:rPr>
              <a:t>	Hari Prasanth 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bg1"/>
                </a:solidFill>
              </a:rPr>
              <a:t>	</a:t>
            </a:r>
            <a:r>
              <a:rPr lang="en-US" sz="2500" dirty="0" err="1">
                <a:solidFill>
                  <a:schemeClr val="bg1"/>
                </a:solidFill>
              </a:rPr>
              <a:t>Rihaaf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Tawbeeqa</a:t>
            </a:r>
            <a:endParaRPr lang="en-US" sz="25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bg1"/>
                </a:solidFill>
              </a:rPr>
              <a:t>	Gokul Krishnan B</a:t>
            </a:r>
          </a:p>
        </p:txBody>
      </p:sp>
    </p:spTree>
    <p:extLst>
      <p:ext uri="{BB962C8B-B14F-4D97-AF65-F5344CB8AC3E}">
        <p14:creationId xmlns:p14="http://schemas.microsoft.com/office/powerpoint/2010/main" val="227069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C490-86D0-2ADE-70B6-AB9B5CC5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95E28-7CA2-63A7-D1D1-74092BE51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Automobile Insurance companies receive thousands of customer complaints annually.</a:t>
            </a:r>
          </a:p>
          <a:p>
            <a:r>
              <a:rPr lang="en-US" dirty="0"/>
              <a:t>Regulatory bodies track complaint outcomes such as:</a:t>
            </a:r>
          </a:p>
          <a:p>
            <a:pPr lvl="1"/>
            <a:r>
              <a:rPr lang="en-US" dirty="0"/>
              <a:t>Upheld </a:t>
            </a:r>
          </a:p>
          <a:p>
            <a:pPr lvl="1"/>
            <a:r>
              <a:rPr lang="en-US" dirty="0"/>
              <a:t>Question of Fact</a:t>
            </a:r>
          </a:p>
          <a:p>
            <a:pPr lvl="1"/>
            <a:r>
              <a:rPr lang="en-US" dirty="0"/>
              <a:t>Not Upheld</a:t>
            </a:r>
          </a:p>
          <a:p>
            <a:r>
              <a:rPr lang="en-US" dirty="0"/>
              <a:t>Analyzing these companies helps assess company performance and compliance.</a:t>
            </a:r>
          </a:p>
        </p:txBody>
      </p:sp>
    </p:spTree>
    <p:extLst>
      <p:ext uri="{BB962C8B-B14F-4D97-AF65-F5344CB8AC3E}">
        <p14:creationId xmlns:p14="http://schemas.microsoft.com/office/powerpoint/2010/main" val="172965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4B38D3-42A9-FF4B-FF1D-41A035302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744" y="2133600"/>
            <a:ext cx="2793159" cy="1600200"/>
          </a:xfrm>
        </p:spPr>
        <p:txBody>
          <a:bodyPr/>
          <a:lstStyle/>
          <a:p>
            <a:r>
              <a:rPr lang="en-US" sz="3000" dirty="0"/>
              <a:t>Project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5669B-69EC-2791-DF4A-FFBF4CBC8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complaint trends across filing years.</a:t>
            </a:r>
          </a:p>
          <a:p>
            <a:r>
              <a:rPr lang="en-US" dirty="0"/>
              <a:t>Compare insurance companies based on complaint volume and ratios.</a:t>
            </a:r>
          </a:p>
          <a:p>
            <a:r>
              <a:rPr lang="en-US" dirty="0"/>
              <a:t>Identify high-risk and low-performing companies.</a:t>
            </a:r>
          </a:p>
          <a:p>
            <a:r>
              <a:rPr lang="en-US" dirty="0"/>
              <a:t>Build interactive dashboards for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5863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39CF07-CE72-2EF3-9A4D-5C631011E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Dataset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7B29AB-9971-DF10-36E7-F087879CE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Automobile insurance complaint dataset.</a:t>
            </a:r>
          </a:p>
          <a:p>
            <a:r>
              <a:rPr lang="en-US" dirty="0"/>
              <a:t>Key Columns: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Company Name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Filing Year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Upheld / Not Upheld / Question of Fact Complaints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Total Complaints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Premiums written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Complaint Ratio</a:t>
            </a:r>
          </a:p>
          <a:p>
            <a:r>
              <a:rPr lang="en-US" dirty="0"/>
              <a:t>Covers multiple companies across multiple years.</a:t>
            </a:r>
          </a:p>
        </p:txBody>
      </p:sp>
    </p:spTree>
    <p:extLst>
      <p:ext uri="{BB962C8B-B14F-4D97-AF65-F5344CB8AC3E}">
        <p14:creationId xmlns:p14="http://schemas.microsoft.com/office/powerpoint/2010/main" val="3971173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AA15C7-C4D7-EC4C-8224-2D443F1A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Tools &amp; Technologies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90424F-4FD6-6E47-1DF9-51E8E4AF25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SQL(MySQL):</a:t>
            </a:r>
          </a:p>
          <a:p>
            <a:pPr lvl="1"/>
            <a:r>
              <a:rPr lang="en-US" dirty="0"/>
              <a:t>Performed data inspection, null validation, and record verification.</a:t>
            </a:r>
          </a:p>
          <a:p>
            <a:pPr lvl="1"/>
            <a:r>
              <a:rPr lang="en-US" dirty="0"/>
              <a:t>Aggregated complaint data by company and filing year.</a:t>
            </a:r>
          </a:p>
          <a:p>
            <a:pPr lvl="1"/>
            <a:r>
              <a:rPr lang="en-US" dirty="0"/>
              <a:t>Calculated complaint ratios, percentage distributions, and rankings.</a:t>
            </a:r>
          </a:p>
          <a:p>
            <a:pPr lvl="1"/>
            <a:r>
              <a:rPr lang="en-US" dirty="0"/>
              <a:t>Identified top and worst-performing companies using ratio-based analysis.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2ACB3-4051-D490-16EB-FDFAADE6B1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Power BI: </a:t>
            </a:r>
          </a:p>
          <a:p>
            <a:pPr lvl="1"/>
            <a:r>
              <a:rPr lang="en-US" dirty="0"/>
              <a:t>Built data model directly from SQL query outputs.</a:t>
            </a:r>
          </a:p>
          <a:p>
            <a:pPr lvl="1"/>
            <a:r>
              <a:rPr lang="en-US" dirty="0"/>
              <a:t>Created interactive dashboards with slicers for company selection.</a:t>
            </a:r>
          </a:p>
          <a:p>
            <a:pPr lvl="1"/>
            <a:r>
              <a:rPr lang="en-US" dirty="0"/>
              <a:t>Visualized complaint distribution, trends, and rankings.</a:t>
            </a:r>
          </a:p>
          <a:p>
            <a:pPr lvl="1"/>
            <a:r>
              <a:rPr lang="en-US" dirty="0"/>
              <a:t>Designed diagnostic summaries to highlight key compliance insights.</a:t>
            </a:r>
          </a:p>
        </p:txBody>
      </p:sp>
    </p:spTree>
    <p:extLst>
      <p:ext uri="{BB962C8B-B14F-4D97-AF65-F5344CB8AC3E}">
        <p14:creationId xmlns:p14="http://schemas.microsoft.com/office/powerpoint/2010/main" val="384604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F7F302-5F65-8D9C-69A5-DBD5E6A2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116" y="2942723"/>
            <a:ext cx="3543716" cy="972553"/>
          </a:xfrm>
        </p:spPr>
        <p:txBody>
          <a:bodyPr/>
          <a:lstStyle/>
          <a:p>
            <a:r>
              <a:rPr lang="en-US" dirty="0"/>
              <a:t>SQL Data Inspection &amp; Validation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BD4DF-7704-B796-23ED-54388B25A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Verified table availability and sample records.</a:t>
            </a:r>
          </a:p>
          <a:p>
            <a:r>
              <a:rPr lang="en-US" dirty="0"/>
              <a:t>Checked total number of records and distinct companies.</a:t>
            </a:r>
          </a:p>
          <a:p>
            <a:r>
              <a:rPr lang="en-US" dirty="0"/>
              <a:t>Identified filing year coverage.</a:t>
            </a:r>
          </a:p>
          <a:p>
            <a:r>
              <a:rPr lang="en-US" dirty="0"/>
              <a:t>Performed null value validation on critical columns.</a:t>
            </a:r>
          </a:p>
          <a:p>
            <a:r>
              <a:rPr lang="en-US" dirty="0"/>
              <a:t>Ensured data readiness for analytical queries.</a:t>
            </a:r>
          </a:p>
        </p:txBody>
      </p:sp>
    </p:spTree>
    <p:extLst>
      <p:ext uri="{BB962C8B-B14F-4D97-AF65-F5344CB8AC3E}">
        <p14:creationId xmlns:p14="http://schemas.microsoft.com/office/powerpoint/2010/main" val="263891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1158F5-6FD0-B79D-CDF5-E5029CBC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SQL Complaint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E52B8-113B-8F0F-D362-C6450FD8A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Calculated year-wise total complaints.</a:t>
            </a:r>
          </a:p>
          <a:p>
            <a:r>
              <a:rPr lang="en-US" dirty="0"/>
              <a:t>Analyzed complaint type distribution: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Upheld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Question of Fact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Not Upheld</a:t>
            </a:r>
          </a:p>
          <a:p>
            <a:r>
              <a:rPr lang="en-US" dirty="0"/>
              <a:t>Computed percentage contribution of each complaint type.</a:t>
            </a:r>
          </a:p>
          <a:p>
            <a:r>
              <a:rPr lang="en-US" dirty="0"/>
              <a:t>Identified complaint trends over time.</a:t>
            </a:r>
          </a:p>
        </p:txBody>
      </p:sp>
    </p:spTree>
    <p:extLst>
      <p:ext uri="{BB962C8B-B14F-4D97-AF65-F5344CB8AC3E}">
        <p14:creationId xmlns:p14="http://schemas.microsoft.com/office/powerpoint/2010/main" val="278113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8E3B-40CA-F285-B282-5423993F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75" y="2975810"/>
            <a:ext cx="3256625" cy="906379"/>
          </a:xfrm>
        </p:spPr>
        <p:txBody>
          <a:bodyPr/>
          <a:lstStyle/>
          <a:p>
            <a:r>
              <a:rPr lang="en-US" dirty="0"/>
              <a:t>SQL Company-Level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0480-6C7D-7FF4-AF10-C514FB4E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Complaints by company.</a:t>
            </a:r>
          </a:p>
          <a:p>
            <a:r>
              <a:rPr lang="en-US" dirty="0"/>
              <a:t>Upheld Complaints by company.</a:t>
            </a:r>
          </a:p>
          <a:p>
            <a:r>
              <a:rPr lang="en-US" dirty="0"/>
              <a:t>Premium contribution by company.</a:t>
            </a:r>
          </a:p>
          <a:p>
            <a:r>
              <a:rPr lang="en-US" dirty="0"/>
              <a:t>Complaints vs Premiums comparison.</a:t>
            </a:r>
          </a:p>
          <a:p>
            <a:r>
              <a:rPr lang="en-US" dirty="0"/>
              <a:t>Complaints per million dollars of premium.</a:t>
            </a:r>
          </a:p>
        </p:txBody>
      </p:sp>
    </p:spTree>
    <p:extLst>
      <p:ext uri="{BB962C8B-B14F-4D97-AF65-F5344CB8AC3E}">
        <p14:creationId xmlns:p14="http://schemas.microsoft.com/office/powerpoint/2010/main" val="177573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2822-24BE-9787-4FF0-CF30E0D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74" y="2950744"/>
            <a:ext cx="3176415" cy="956511"/>
          </a:xfrm>
        </p:spPr>
        <p:txBody>
          <a:bodyPr/>
          <a:lstStyle/>
          <a:p>
            <a:pPr algn="ctr"/>
            <a:r>
              <a:rPr lang="en-US" dirty="0"/>
              <a:t>SQL Ratio &amp; Ranking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C4CDC-94D6-8CD1-9407-F3938EF80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Validated complaint ratios by company and year.</a:t>
            </a:r>
          </a:p>
          <a:p>
            <a:r>
              <a:rPr lang="en-US" dirty="0"/>
              <a:t>Generated year-wise company rankings based on complaint ratio.</a:t>
            </a:r>
          </a:p>
          <a:p>
            <a:r>
              <a:rPr lang="en-US" dirty="0"/>
              <a:t>Identified worst-performing companies by average complaint ratio.</a:t>
            </a:r>
          </a:p>
          <a:p>
            <a:r>
              <a:rPr lang="en-US" dirty="0"/>
              <a:t>Extracted top and bottom performers for dashboard comparison.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8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ED0C1-F9DA-C0E6-A01D-CD6F0CD2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BI Dashboard Overview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038125E-3E9C-E2CE-A689-6521FDD063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7094" y="2603500"/>
            <a:ext cx="5446310" cy="34163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DDB007-A7A4-CDBA-499C-6F3ADC2380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High-level KPIs on complaints and premiums.</a:t>
            </a:r>
          </a:p>
          <a:p>
            <a:r>
              <a:rPr lang="en-US" dirty="0"/>
              <a:t>Year-wise complaint trends.</a:t>
            </a:r>
          </a:p>
          <a:p>
            <a:r>
              <a:rPr lang="en-US" dirty="0"/>
              <a:t>Overall distribution of complaint outcomes.</a:t>
            </a:r>
          </a:p>
          <a:p>
            <a:r>
              <a:rPr lang="en-US" dirty="0"/>
              <a:t>Interactive slicers for company selection.</a:t>
            </a:r>
          </a:p>
        </p:txBody>
      </p:sp>
    </p:spTree>
    <p:extLst>
      <p:ext uri="{BB962C8B-B14F-4D97-AF65-F5344CB8AC3E}">
        <p14:creationId xmlns:p14="http://schemas.microsoft.com/office/powerpoint/2010/main" val="99642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ED0C1-F9DA-C0E6-A01D-CD6F0CD2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BI Diagnostic Analysis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038125E-3E9C-E2CE-A689-6521FDD063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094" y="2603500"/>
            <a:ext cx="5446310" cy="34163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DDB007-A7A4-CDBA-499C-6F3ADC2380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Breakdown of complaint outcomes over time.</a:t>
            </a:r>
          </a:p>
          <a:p>
            <a:r>
              <a:rPr lang="en-US" dirty="0"/>
              <a:t>Percentage distribution of Upheld vs Not Upheld complaints.</a:t>
            </a:r>
          </a:p>
          <a:p>
            <a:r>
              <a:rPr lang="en-US" dirty="0"/>
              <a:t>Diagnostic summary highlighting key observations.</a:t>
            </a:r>
          </a:p>
          <a:p>
            <a:r>
              <a:rPr lang="en-US" dirty="0"/>
              <a:t>Helps identify compliance and operational issues.</a:t>
            </a:r>
          </a:p>
        </p:txBody>
      </p:sp>
    </p:spTree>
    <p:extLst>
      <p:ext uri="{BB962C8B-B14F-4D97-AF65-F5344CB8AC3E}">
        <p14:creationId xmlns:p14="http://schemas.microsoft.com/office/powerpoint/2010/main" val="197514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ED0C1-F9DA-C0E6-A01D-CD6F0CD2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BI Trend &amp; Premium Analysis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038125E-3E9C-E2CE-A689-6521FDD063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094" y="2603500"/>
            <a:ext cx="5446310" cy="34163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DDB007-A7A4-CDBA-499C-6F3ADC2380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Complaint trends compared with premium growth.</a:t>
            </a:r>
          </a:p>
          <a:p>
            <a:r>
              <a:rPr lang="en-US" dirty="0"/>
              <a:t>Year-wise premium analysis.</a:t>
            </a:r>
          </a:p>
          <a:p>
            <a:r>
              <a:rPr lang="en-US" dirty="0"/>
              <a:t>Relationship between business size and complaint volume.</a:t>
            </a:r>
          </a:p>
          <a:p>
            <a:r>
              <a:rPr lang="en-US" dirty="0"/>
              <a:t>Identification of abnormal spikes and drops.</a:t>
            </a:r>
          </a:p>
        </p:txBody>
      </p:sp>
    </p:spTree>
    <p:extLst>
      <p:ext uri="{BB962C8B-B14F-4D97-AF65-F5344CB8AC3E}">
        <p14:creationId xmlns:p14="http://schemas.microsoft.com/office/powerpoint/2010/main" val="39949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ED0C1-F9DA-C0E6-A01D-CD6F0CD2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BI Company Comparison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038125E-3E9C-E2CE-A689-6521FDD063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094" y="2603500"/>
            <a:ext cx="5446310" cy="34163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DDB007-A7A4-CDBA-499C-6F3ADC2380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Side-by-side comparison of top companies.</a:t>
            </a:r>
          </a:p>
          <a:p>
            <a:r>
              <a:rPr lang="en-US" dirty="0"/>
              <a:t>Metrics included: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Total Complaints.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Upheld complaints.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Premiums.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Average complaint ratio.</a:t>
            </a:r>
          </a:p>
          <a:p>
            <a:r>
              <a:rPr lang="en-US" dirty="0"/>
              <a:t>Ranking visualization from best to worst performers.</a:t>
            </a:r>
          </a:p>
        </p:txBody>
      </p:sp>
    </p:spTree>
    <p:extLst>
      <p:ext uri="{BB962C8B-B14F-4D97-AF65-F5344CB8AC3E}">
        <p14:creationId xmlns:p14="http://schemas.microsoft.com/office/powerpoint/2010/main" val="3224640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227876-2D25-5CB2-0F38-28D7C72F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Insights &amp; Findings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F22A4-F0D1-FD30-A7BF-616911F4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172" y="2896828"/>
            <a:ext cx="8983656" cy="2000584"/>
          </a:xfrm>
        </p:spPr>
        <p:txBody>
          <a:bodyPr/>
          <a:lstStyle/>
          <a:p>
            <a:r>
              <a:rPr lang="en-US" dirty="0"/>
              <a:t>Not Upheld Complaints form the majority, indicating resolution without regulatory action.</a:t>
            </a:r>
          </a:p>
          <a:p>
            <a:r>
              <a:rPr lang="en-US" dirty="0"/>
              <a:t>Upheld complaints, though fewer, highlight serious operational gaps.</a:t>
            </a:r>
          </a:p>
          <a:p>
            <a:r>
              <a:rPr lang="en-US" dirty="0"/>
              <a:t>Some companies show high complaint ratios despite lower premiums.</a:t>
            </a:r>
          </a:p>
          <a:p>
            <a:r>
              <a:rPr lang="en-US" dirty="0"/>
              <a:t>Overall improvement observed in complaint handling after certain years.</a:t>
            </a:r>
          </a:p>
        </p:txBody>
      </p:sp>
    </p:spTree>
    <p:extLst>
      <p:ext uri="{BB962C8B-B14F-4D97-AF65-F5344CB8AC3E}">
        <p14:creationId xmlns:p14="http://schemas.microsoft.com/office/powerpoint/2010/main" val="2917226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227876-2D25-5CB2-0F38-28D7C72F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 &amp; Business Impact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F22A4-F0D1-FD30-A7BF-616911F4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172" y="2896828"/>
            <a:ext cx="8983656" cy="2000584"/>
          </a:xfrm>
        </p:spPr>
        <p:txBody>
          <a:bodyPr/>
          <a:lstStyle/>
          <a:p>
            <a:r>
              <a:rPr lang="en-US" dirty="0"/>
              <a:t>The project delivers a data-driven evaluation of insurance companies.</a:t>
            </a:r>
          </a:p>
          <a:p>
            <a:r>
              <a:rPr lang="en-US" dirty="0"/>
              <a:t>Helps regulators and management identify risk-prone companies.</a:t>
            </a:r>
          </a:p>
          <a:p>
            <a:r>
              <a:rPr lang="en-US" dirty="0"/>
              <a:t>Enables better compliance monitoring and decision-making.</a:t>
            </a:r>
          </a:p>
          <a:p>
            <a:r>
              <a:rPr lang="en-US" dirty="0"/>
              <a:t>Demonstrates strong integration of SQL analytics with Power BI reporting.</a:t>
            </a:r>
          </a:p>
        </p:txBody>
      </p:sp>
    </p:spTree>
    <p:extLst>
      <p:ext uri="{BB962C8B-B14F-4D97-AF65-F5344CB8AC3E}">
        <p14:creationId xmlns:p14="http://schemas.microsoft.com/office/powerpoint/2010/main" val="336375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9D52FFB-F6CE-9CDB-1609-F288FCD4A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998290"/>
            <a:ext cx="8825658" cy="861420"/>
          </a:xfrm>
        </p:spPr>
        <p:txBody>
          <a:bodyPr/>
          <a:lstStyle/>
          <a:p>
            <a:pPr algn="ctr"/>
            <a:r>
              <a:rPr lang="en-US" i="1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Calisto MT" panose="0204060305050503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87758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</TotalTime>
  <Words>581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Calisto MT</vt:lpstr>
      <vt:lpstr>Century Gothic</vt:lpstr>
      <vt:lpstr>Wingdings</vt:lpstr>
      <vt:lpstr>Wingdings 3</vt:lpstr>
      <vt:lpstr>Ion Boardroom</vt:lpstr>
      <vt:lpstr>Automobile Insurance Complaints Rankings</vt:lpstr>
      <vt:lpstr>Project Background</vt:lpstr>
      <vt:lpstr>Project Objectives</vt:lpstr>
      <vt:lpstr>Dataset Overview</vt:lpstr>
      <vt:lpstr>Tools &amp; Technologies Used</vt:lpstr>
      <vt:lpstr>SQL Data Inspection &amp; Validation</vt:lpstr>
      <vt:lpstr>SQL Complaint Analysis</vt:lpstr>
      <vt:lpstr>SQL Company-Level Analysis</vt:lpstr>
      <vt:lpstr>SQL Ratio &amp; Ranking Analysis</vt:lpstr>
      <vt:lpstr>Power BI Dashboard Overview</vt:lpstr>
      <vt:lpstr>Power BI Diagnostic Analysis</vt:lpstr>
      <vt:lpstr>Power BI Trend &amp; Premium Analysis</vt:lpstr>
      <vt:lpstr>Power BI Company Comparison</vt:lpstr>
      <vt:lpstr>Key Insights &amp; Findings</vt:lpstr>
      <vt:lpstr>Conclusion &amp; Business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KANESHK P M</dc:creator>
  <cp:lastModifiedBy>KANESHK P M</cp:lastModifiedBy>
  <cp:revision>3</cp:revision>
  <dcterms:created xsi:type="dcterms:W3CDTF">2025-12-29T07:01:52Z</dcterms:created>
  <dcterms:modified xsi:type="dcterms:W3CDTF">2025-12-29T08:00:33Z</dcterms:modified>
</cp:coreProperties>
</file>